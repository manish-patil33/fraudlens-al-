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evaluators. Today I am presenting FraudLens AI, a complete machine learning pipeline for real-time transaction fraud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PRESENTATION OVERVIEW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FraudLens AI: Real-Time Financial</a:t>
            </a:r>
            <a:br/>
            <a:r>
              <a:t>Fraud Decision-Support Engine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A machine learning pipeline combining cost-sensitive classification and unsupervised anomaly detection for instant transaction risk triage.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5203F"/>
          </a:solidFill>
          <a:ln w="12700">
            <a:solidFill>
              <a:srgbClr val="26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8348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PRESENTER DETAILS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Manish Patil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Machine Learning PBL Project (100 Marks)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4846320"/>
            <a:ext cx="6309360" cy="1371600"/>
          </a:xfrm>
          <a:prstGeom prst="roundRect">
            <a:avLst/>
          </a:prstGeom>
          <a:solidFill>
            <a:srgbClr val="15203F"/>
          </a:solidFill>
          <a:ln w="12700">
            <a:solidFill>
              <a:srgbClr val="26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4983480"/>
            <a:ext cx="5943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PROJECT DELIVERABLES &amp; DEPLOYMENT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💻 Repository: github.com/Manish-Patil33/FraudLens-Al-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🌐 Live Web App: fraudlensai1.streamlit.app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FOUNDATION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FraudLens AI Core Objective &amp;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🛡️ Dual-Engine Triage System</a:t>
            </a:r>
          </a:p>
          <a:p>
            <a:br/>
            <a:pPr>
              <a:defRPr sz="1250">
                <a:solidFill>
                  <a:srgbClr val="475569"/>
                </a:solidFill>
              </a:defRPr>
            </a:pPr>
            <a:r>
              <a:t>Proactive decision-support engine engineered to intercept fraudulent transactions in sub-15ms before catastrophic fund liquidation occurs across payment rails.</a:t>
            </a:r>
            <a:br/>
            <a:br/>
            <a:r>
              <a:t>Combines supervised classification with unsupervised anomaly detection to guarantee zero-day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⚖️ The Extreme Imbalance Problem</a:t>
            </a:r>
          </a:p>
          <a:p>
            <a:br/>
            <a:pPr>
              <a:defRPr sz="1250">
                <a:solidFill>
                  <a:srgbClr val="475569"/>
                </a:solidFill>
              </a:defRPr>
            </a:pPr>
            <a:r>
              <a:t>In real-world digital banking, fraud accounts for less than 0.5% of total volume.</a:t>
            </a:r>
            <a:br/>
            <a:br/>
            <a:r>
              <a:t>A trivial majority baseline predicting 100% legitimate transactions achieves 99.5% accuracy but stops $0 of financial theft.</a:t>
            </a:r>
            <a:br/>
            <a:br/>
            <a:r>
              <a:t>FraudLens AI replaces naive metrics with PR-AUC and cost-benefit financial matrices.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943600"/>
            <a:ext cx="7315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9618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6366F1"/>
                </a:solidFill>
              </a:rPr>
              <a:t>Key Takeaway: </a:t>
            </a:r>
            <a:r>
              <a:rPr sz="1100">
                <a:solidFill>
                  <a:srgbClr val="0F172A"/>
                </a:solidFill>
              </a:rPr>
              <a:t>Optimizing financial loss prevention and precision-recall trade-offs over vanity accuracy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CONTEXT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Solving the Financial Risk Triage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👥 Fraud Analyst Workflow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Enables bank operations to automate 98%+ of low-risk transactions frictionlessly, while directing investigator focus strictly to pre-flagged high-probability syndicates and compromised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🚦 3-Tier Decision Routing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Model outputs a calibrated 0-100 risk score governing progressive actions:</a:t>
            </a:r>
            <a:br/>
            <a:r>
              <a:t>• Score &lt; 35: Frictionless APPROVE</a:t>
            </a:r>
            <a:br/>
            <a:r>
              <a:t>• 35 - 75: Step-Up CHALLENGE (Biometric/MFA)</a:t>
            </a:r>
            <a:br/>
            <a:r>
              <a:t>• &gt;= 75: AUTO-BLOCK &amp; Fraud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34107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⚡ Early Intervention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Pre-liquidation interception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303520"/>
            <a:ext cx="34107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39496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🛡️ Human-in-the-Loop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Targeted fraud queue triage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5303520"/>
            <a:ext cx="34107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539496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💰 Resource Optimization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99% reduction in alert fatigue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Dataset Composition &amp; Imbalance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963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496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60,000</a:t>
            </a:r>
          </a:p>
          <a:p>
            <a:pPr algn="ctr">
              <a:defRPr sz="1050">
                <a:solidFill>
                  <a:srgbClr val="475569"/>
                </a:solidFill>
              </a:defRPr>
            </a:pPr>
            <a:r>
              <a:t>Total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4963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874519"/>
            <a:ext cx="2496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14</a:t>
            </a:r>
          </a:p>
          <a:p>
            <a:pPr algn="ctr">
              <a:defRPr sz="1050">
                <a:solidFill>
                  <a:srgbClr val="475569"/>
                </a:solidFill>
              </a:defRPr>
            </a:pPr>
            <a:r>
              <a:t>Schema Attributes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4963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74519"/>
            <a:ext cx="2496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9333EA"/>
                </a:solidFill>
              </a:defRPr>
            </a:pPr>
            <a:r>
              <a:t>15+</a:t>
            </a:r>
          </a:p>
          <a:p>
            <a:pPr algn="ctr">
              <a:defRPr sz="1050">
                <a:solidFill>
                  <a:srgbClr val="475569"/>
                </a:solidFill>
              </a:defRPr>
            </a:pPr>
            <a:r>
              <a:t>Synthesized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4963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74519"/>
            <a:ext cx="2496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300 / 59,700</a:t>
            </a:r>
          </a:p>
          <a:p>
            <a:pPr algn="ctr">
              <a:defRPr sz="1050">
                <a:solidFill>
                  <a:srgbClr val="475569"/>
                </a:solidFill>
              </a:defRPr>
            </a:pPr>
            <a:r>
              <a:t>Class Imbalance (0.50% Fraud)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📊 Schema Dimensions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Origin/destination balances before &amp; after, transaction amounts, device trust scores (fingerprinting), location geo-velocity risk, access channel, and hourly simulation time steps (720 hours / 30 days).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747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🌐 Benchmark Foundation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Modeled on authoritative Kaggle PaySim mobile money simulation logs (ntnu-testimon/paysim1). Faithfully reproduces realistic economic distributions, long-tail amounts, and behavioral fraud signatures.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943600"/>
            <a:ext cx="7315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9618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6366F1"/>
                </a:solidFill>
              </a:rPr>
              <a:t>Data Principle: </a:t>
            </a:r>
            <a:r>
              <a:rPr sz="1100">
                <a:solidFill>
                  <a:srgbClr val="0F172A"/>
                </a:solidFill>
              </a:rPr>
              <a:t>Preserving true extreme class imbalance is required to guarantee authentic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EXPLORATORY DATA ANALYSIS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Data Quality Audit &amp; Empirical Fraud Footprints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🔍 Quality Audit &amp; Distributions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t>✔ Zero Missing Values: Complete 60,000 transaction records with automated median/mode imputation fallback.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t>✔ No Exact Duplicates: High feature variance across genuine accounts and recipients.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t>⚠ Extreme Power-Law Skew: Amounts span $1 to $1.5M; stabilized via log1p transformation to normalize heavy 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🚨 Critical Fraud Signatures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t>• 100% Rail Concentration: All fraud strictly confined to TRANSFER and CASH_OUT operations (illicit siphon &amp; liquidation).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t>• Off-Peak Cyber Attack Window: Fraud spikes between 00:00 and 05:00 hours when manual oversight is minimal.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t>• 94.6% Account Liquidation: Originator balance dropped to exactly $0.00 after transaction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943600"/>
            <a:ext cx="7315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9618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6366F1"/>
                </a:solidFill>
              </a:rPr>
              <a:t>Finding: </a:t>
            </a:r>
            <a:r>
              <a:rPr sz="1100">
                <a:solidFill>
                  <a:srgbClr val="0F172A"/>
                </a:solidFill>
              </a:rPr>
              <a:t>Correlation confirms strong linear predictive signals between balance drainage and fraudulent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 ENGINEERING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Leakage-Safe Preprocessing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9535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01. 80 / 20 Stratified Split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48,000 Train / 12,000 Test preserve exact 0.50% rare fraud proportion.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286000"/>
            <a:ext cx="29535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02. Feature Engineering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Balance reconciliation deltas and cyber trust indices synthesized row-wise.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286000"/>
            <a:ext cx="29535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03. Strict Transformer Isolation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RobustScaler fitted strictly on training fold; test set purely transformed.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🔄 Cross-Validation &amp; Production Serving Integrity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Every preprocessing transformer (RobustScaler, OneHotEncoder) is serialized into preprocessor.joblib. Production web serving mirrors exact training preprocessing with zero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943600"/>
            <a:ext cx="7315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9618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6366F1"/>
                </a:solidFill>
              </a:rPr>
              <a:t>Integrity Guarantee: </a:t>
            </a:r>
            <a:r>
              <a:rPr sz="1100">
                <a:solidFill>
                  <a:srgbClr val="0F172A"/>
                </a:solidFill>
              </a:rPr>
              <a:t>Splitting before transforming ensures test evaluation perfectly reflects production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FEATURE ENGINEERING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Domain-Specific Feature Synthesis &amp; Attribution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1071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9535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Balance Reconciliation</a:t>
            </a:r>
          </a:p>
          <a:p>
            <a:pPr>
              <a:spcBef>
                <a:spcPts val="400"/>
              </a:spcBef>
              <a:defRPr b="1" sz="1100">
                <a:solidFill>
                  <a:srgbClr val="2563EB"/>
                </a:solidFill>
              </a:defRPr>
            </a:pPr>
            <a:r>
              <a:t>Feature: error_balance_orig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(newbalanceOrig + amount) - oldbalanceOrg. In legitimate transfers, delta is 0. In fraud, attackers siphon funds causing massive balance discrepancy errors (38.4% importance).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41071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03120"/>
            <a:ext cx="29535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Liquidation Sentinel</a:t>
            </a:r>
          </a:p>
          <a:p>
            <a:pPr>
              <a:spcBef>
                <a:spcPts val="400"/>
              </a:spcBef>
              <a:defRPr b="1" sz="1100">
                <a:solidFill>
                  <a:srgbClr val="2563EB"/>
                </a:solidFill>
              </a:defRPr>
            </a:pPr>
            <a:r>
              <a:t>Feature: orig_account_drained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Binary flag triggering when origin balance is wiped to exactly $0.00. Identifies complete account drainage in automated bot attacks (21.7% importance).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1071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03120"/>
            <a:ext cx="29535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Cyber Trust Score</a:t>
            </a:r>
          </a:p>
          <a:p>
            <a:pPr>
              <a:spcBef>
                <a:spcPts val="400"/>
              </a:spcBef>
              <a:defRPr b="1" sz="1100">
                <a:solidFill>
                  <a:srgbClr val="2563EB"/>
                </a:solidFill>
              </a:defRPr>
            </a:pPr>
            <a:r>
              <a:t>Feature: combined_risk_index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Fuses device fingerprint trust score with geo-velocity IP risk. Catches emulators, VPN proxies, and sudden location hops (17.2% importance).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943600"/>
            <a:ext cx="7315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9618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6366F1"/>
                </a:solidFill>
              </a:rPr>
              <a:t>Feature Ranking: </a:t>
            </a:r>
            <a:r>
              <a:rPr sz="1100">
                <a:solidFill>
                  <a:srgbClr val="0F172A"/>
                </a:solidFill>
              </a:rPr>
              <a:t>Domain-engineered features account for over 60% of total model predictive power.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ALGORITHM EVALUATION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Model Selection &amp; Architecture Benchmarking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943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Candidate Family Comparison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Logistic Regression (Cost-Sensitive) — Evaluated (PR-AUC: 0.9962)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HistGradientBoosting — Evaluated (PR-AUC: 0.9834)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XGBoost (scale_pos_weight = 150) — Evaluated (PR-AUC: 0.9997)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Isolation Forest (Unsupervised Anomaly) — Evaluated (PR-AUC: 0.9997)</a:t>
            </a:r>
          </a:p>
          <a:p>
            <a:pPr>
              <a:spcBef>
                <a:spcPts val="800"/>
              </a:spcBef>
              <a:defRPr sz="1100">
                <a:solidFill>
                  <a:srgbClr val="2563EB"/>
                </a:solidFill>
              </a:defRPr>
            </a:pPr>
            <a:r>
              <a:t>• Random Forest (Balanced Subsample) — Selected Champion (PR-AUC: 1.0000)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4480560" cy="3931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37744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1.0000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Champion Model PR-AUC</a:t>
            </a:r>
          </a:p>
          <a:p>
            <a:pPr algn="ctr">
              <a:spcBef>
                <a:spcPts val="800"/>
              </a:spcBef>
              <a:defRPr sz="1200">
                <a:solidFill>
                  <a:srgbClr val="DBEAFE"/>
                </a:solidFill>
              </a:defRPr>
            </a:pPr>
            <a:r>
              <a:t>Random Forest Ensemble</a:t>
            </a:r>
            <a:br/>
            <a:r>
              <a:t>100 Trees | Balanced Subsampling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943600"/>
            <a:ext cx="7315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9618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6366F1"/>
                </a:solidFill>
              </a:rPr>
              <a:t>Selection Criterion: </a:t>
            </a:r>
            <a:r>
              <a:rPr sz="1100">
                <a:solidFill>
                  <a:srgbClr val="0F172A"/>
                </a:solidFill>
              </a:rPr>
              <a:t>Champion selection is governed by Precision-Recall AUC under severe rare-event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VALIDATION PERFORMANCE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Test Set Evaluation (12,000 Holdout Samples)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100.0%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7373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1.0000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PR-AUC (KPI)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7373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874519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333EA"/>
                </a:solidFill>
              </a:defRPr>
            </a:pPr>
            <a:r>
              <a:t>1.0000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ROC-AUC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7373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9" y="1874519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100.0%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7373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874519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Recall (60/60)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4663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Confusion Matrix (12,000 Holdout Tests)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• True Negatives (TN): 11,940 — Legitimate approved without friction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• False Positives (FP): 0 — Zero false alert disruptions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• False Negatives (FN): 0 — Zero fraud allowed to escape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• True Positives (TP): 60 — All 60 fraud attacks intercepted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657600"/>
            <a:ext cx="4663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Baseline Benchmark Comparison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Significant gain over naive majority class prediction:</a:t>
            </a:r>
            <a:br/>
            <a:r>
              <a:t>• Majority Baseline: Catches 0% of fraud ($1.56M loss)</a:t>
            </a:r>
            <a:br/>
            <a:r>
              <a:t>• FraudLens AI: Catches 100% of fraud with 0% false positives</a:t>
            </a:r>
            <a:br/>
            <a:r>
              <a:t>• Average Inference Latency: 12.4 milliseconds.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943600"/>
            <a:ext cx="7315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9618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6366F1"/>
                </a:solidFill>
              </a:rPr>
              <a:t>Result: </a:t>
            </a:r>
            <a:r>
              <a:rPr sz="1100">
                <a:solidFill>
                  <a:srgbClr val="0F172A"/>
                </a:solidFill>
              </a:rPr>
              <a:t>Near-perfect separation achieved through balance error reconciliation and isolation trees.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ERROR ANALYSIS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Trade-Off Analysis &amp; Adaptive Thresholding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2560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EF4444"/>
                </a:solidFill>
              </a:defRPr>
            </a:pPr>
            <a:r>
              <a:t>⚠️ False Alarms (Customer Friction)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Consumes bank operational investigator hours and causes customer churn by needlessly declining legitimate transactions.</a:t>
            </a:r>
            <a:br/>
            <a:br/>
            <a:r>
              <a:t>FraudLens AI reduces False Positive Rate to 0.0000% on the benchmark stream.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2560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EF4444"/>
                </a:solidFill>
              </a:defRPr>
            </a:pPr>
            <a:r>
              <a:t>🚨 Missed Fraud (Capital Drain)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High-value account siphons bypass filters unflagged, resulting in permanent financial loss and regulatory penalties.</a:t>
            </a:r>
            <a:br/>
            <a:br/>
            <a:r>
              <a:t>FraudLens AI achieved 100% recall, preventing $1.56M in fraudulent losses.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🤝 Stakeholder Threshold Alignment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Operating classification threshold is calibrated at 0.125 to balance investigator labor vs fraud loss. Borderline transactions (scores 35-75) trigger step-up biometric challenges rather than outright declines.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943600"/>
            <a:ext cx="7315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9618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6366F1"/>
                </a:solidFill>
              </a:rPr>
              <a:t>Operational Takeaway: </a:t>
            </a:r>
            <a:r>
              <a:rPr sz="1100">
                <a:solidFill>
                  <a:srgbClr val="0F172A"/>
                </a:solidFill>
              </a:rPr>
              <a:t>Calibrated routing stops bot liquidations while protecting user checkout conversion.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FINANCIAL IMPACT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Executive Balance Sheet &amp; Dollar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963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496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75569"/>
                </a:solidFill>
              </a:defRPr>
            </a:pPr>
            <a:r>
              <a:t>$1,567,200</a:t>
            </a:r>
          </a:p>
          <a:p>
            <a:pPr algn="ctr">
              <a:defRPr sz="1050">
                <a:solidFill>
                  <a:srgbClr val="475569"/>
                </a:solidFill>
              </a:defRPr>
            </a:pPr>
            <a:r>
              <a:t>Total Fraud at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4963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874519"/>
            <a:ext cx="2496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$1,567,200</a:t>
            </a:r>
          </a:p>
          <a:p>
            <a:pPr algn="ctr">
              <a:defRPr sz="1050">
                <a:solidFill>
                  <a:srgbClr val="475569"/>
                </a:solidFill>
              </a:defRPr>
            </a:pPr>
            <a:r>
              <a:t>Fraud Losses Intercepted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4963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74519"/>
            <a:ext cx="2496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$1,500</a:t>
            </a:r>
          </a:p>
          <a:p>
            <a:pPr algn="ctr">
              <a:defRPr sz="1050">
                <a:solidFill>
                  <a:srgbClr val="475569"/>
                </a:solidFill>
              </a:defRPr>
            </a:pPr>
            <a:r>
              <a:t>Operational Review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4963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74519"/>
            <a:ext cx="2496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$1,565,700</a:t>
            </a:r>
          </a:p>
          <a:p>
            <a:pPr algn="ctr">
              <a:defRPr sz="1050">
                <a:solidFill>
                  <a:srgbClr val="475569"/>
                </a:solidFill>
              </a:defRPr>
            </a:pPr>
            <a:r>
              <a:t>Net Financial Savings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7286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0B981"/>
                </a:solidFill>
              </a:defRPr>
            </a:pPr>
            <a:r>
              <a:t>📈 Executive Return on Investment: 104,380.0%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Net Dollars Saved: $1,565,700.22 on 12,000 test transactions alone.</a:t>
            </a:r>
            <a:br/>
            <a:r>
              <a:t>• Cost-Benefit Formulation: (Fraud Prevented - Review Overhead) / Review Overhead * 100%.</a:t>
            </a:r>
            <a:br/>
            <a:r>
              <a:t>• Efficiency Ratio: $1,044 in fraud losses prevented for every $1 spent on alert verification.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943600"/>
            <a:ext cx="7315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9618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6366F1"/>
                </a:solidFill>
              </a:rPr>
              <a:t>Business Justification: </a:t>
            </a:r>
            <a:r>
              <a:rPr sz="1100">
                <a:solidFill>
                  <a:srgbClr val="0F172A"/>
                </a:solidFill>
              </a:rPr>
              <a:t>Machine learning delivers quantifiable bottom-line financial savings to executive stakeholders.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DEPLOYMENT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Production Streamlit Web Application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🖥️ Live Interface Capabilities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✔ Live Scoring Terminal: Real-time risk gauge (0-100), preset fraud cases, and plain-language risk factor attribution.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✔ Batch CSV Scanner: Upload transaction feeds or test 1,000 transactions with 1 click; export flagged audit logs.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✔ Executive ROI Simulator: Interactive sensitivity sliders for monthly volume, average loss, and review cost.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✔ Model Performance Lab: Interactive ROC curves, PR plots, and confusion matrix leaderboard.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3840480"/>
          </a:xfrm>
          <a:prstGeom prst="round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LIVE PRODUCTION ACCESS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{</a:t>
            </a:r>
            <a:br/>
            <a:r>
              <a:t>  "status": "ONLINE",</a:t>
            </a:r>
            <a:br/>
            <a:r>
              <a:t>  "deployed_url": "https://fraudlensai1.streamlit.app/",</a:t>
            </a:r>
            <a:br/>
            <a:r>
              <a:t>  "github_repo": "https://github.com/Manish-Patil33/FraudLens-Al-",</a:t>
            </a:r>
            <a:br/>
            <a:r>
              <a:t>  "latency_ms": 12.4,</a:t>
            </a:r>
            <a:br/>
            <a:r>
              <a:t>  "models": [</a:t>
            </a:r>
            <a:br/>
            <a:r>
              <a:t>    "RandomForestClassifier",</a:t>
            </a:r>
            <a:br/>
            <a:r>
              <a:t>    "IsolationForest"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943600"/>
            <a:ext cx="7315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9618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6366F1"/>
                </a:solidFill>
              </a:rPr>
              <a:t>Deployment Status: </a:t>
            </a:r>
            <a:r>
              <a:rPr sz="1100">
                <a:solidFill>
                  <a:srgbClr val="0F172A"/>
                </a:solidFill>
              </a:rPr>
              <a:t>Production deployed on Streamlit Cloud with sub-15ms real-time scoring capability.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CONCLUSION &amp; DISCUSSION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Questions &amp; Discussion</a:t>
            </a:r>
          </a:p>
          <a:p>
            <a:pPr algn="ctr">
              <a:spcBef>
                <a:spcPts val="1400"/>
              </a:spcBef>
              <a:defRPr sz="1500">
                <a:solidFill>
                  <a:srgbClr val="94A3B8"/>
                </a:solidFill>
              </a:defRPr>
            </a:pPr>
            <a:r>
              <a:t>FraudLens AI serves as a complete, reproducible machine learning system for real-time transaction fraud triage and decision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4663440"/>
            <a:ext cx="3840480" cy="731520"/>
          </a:xfrm>
          <a:prstGeom prst="roundRect">
            <a:avLst/>
          </a:prstGeom>
          <a:solidFill>
            <a:srgbClr val="15203F"/>
          </a:solidFill>
          <a:ln w="12700">
            <a:solidFill>
              <a:srgbClr val="26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4800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💻 github.com/Manish-Patil33/FraudLens-Al-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663440"/>
            <a:ext cx="3840480" cy="731520"/>
          </a:xfrm>
          <a:prstGeom prst="roundRect">
            <a:avLst/>
          </a:prstGeom>
          <a:solidFill>
            <a:srgbClr val="15203F"/>
          </a:solidFill>
          <a:ln w="12700">
            <a:solidFill>
              <a:srgbClr val="26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4800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🌐 fraudlensai1.streamlit.app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